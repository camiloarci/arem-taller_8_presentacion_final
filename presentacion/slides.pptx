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IDY8EZ5TF3f8Z4d7iTJGSscqT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8a69ecb6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a8a69ecb6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a8a69ecb63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2C5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412480" y="731520"/>
            <a:ext cx="731400" cy="731400"/>
          </a:xfrm>
          <a:prstGeom prst="rect">
            <a:avLst/>
          </a:prstGeom>
          <a:solidFill>
            <a:srgbClr val="4A8C5C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502920" y="822960"/>
            <a:ext cx="1005840" cy="45720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502920" y="82296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800"/>
              <a:buFont typeface="Calibri"/>
              <a:buNone/>
            </a:pPr>
            <a:r>
              <a:rPr b="1" lang="en-US" sz="800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Final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02920" y="1554480"/>
            <a:ext cx="7772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4F0E6"/>
                </a:solidFill>
                <a:latin typeface="Georgia"/>
                <a:ea typeface="Georgia"/>
                <a:cs typeface="Georgia"/>
                <a:sym typeface="Georgia"/>
              </a:rPr>
              <a:t>Ataraxia Parkour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74320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5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Arquitectura Empresarial — </a:t>
            </a:r>
            <a:r>
              <a:rPr i="1" lang="en-US" sz="1600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r>
              <a:rPr b="0" i="1" lang="en-US" sz="1600" u="none" cap="none" strike="noStrike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 Final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02920" y="3337560"/>
            <a:ext cx="5943600" cy="2743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34747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Camilo Arciniegas Guerrero  ·  Juan Sebastian Ayala Silva  ·  Juan Diego Campo Conde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AREM — Universidad de La Sabana  |  202</a:t>
            </a:r>
            <a:r>
              <a:rPr lang="en-US" sz="900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E6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1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CONTEXTO DEL CLIENTE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0" y="0"/>
            <a:ext cx="8869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02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65760" y="1005840"/>
            <a:ext cx="3840480" cy="41148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2C5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Quien es Ataraxia?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1508760"/>
            <a:ext cx="35661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Gimnasio especializado en parkour en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Bogotá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Variedad de c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lases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Equipo pequeño: pocos profesores, decenas de alumnos activos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Sin sistema de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formal: toda la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es manual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663440" y="1005840"/>
            <a:ext cx="41148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DAD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663440" y="1005840"/>
            <a:ext cx="4114800" cy="411480"/>
          </a:xfrm>
          <a:prstGeom prst="rect">
            <a:avLst/>
          </a:prstGeom>
          <a:solidFill>
            <a:srgbClr val="8B3A3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Problema central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800600" y="1508760"/>
            <a:ext cx="384048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Demasiados procesos manuales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Sin roles de acceso: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todos los 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profesores tienen los mismos permisos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Alto riesgo de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pérdida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corrupción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de datos por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edición</a:t>
            </a:r>
            <a:r>
              <a:rPr b="0" i="0" lang="en-US" sz="11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simultánea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E6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1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NEGOCIO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0" y="-75"/>
            <a:ext cx="886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03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3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2C5F3D"/>
                </a:solidFill>
                <a:latin typeface="Calibri"/>
                <a:ea typeface="Calibri"/>
                <a:cs typeface="Calibri"/>
                <a:sym typeface="Calibri"/>
              </a:rPr>
              <a:t>Procesos operativos del gimnasio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0040" y="1417320"/>
            <a:ext cx="26517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1600200"/>
            <a:ext cx="475488" cy="475488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457200" y="16002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11480" y="217627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Pago de clases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5720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El estudiante paga un paquete de sesiones en efectivo o por transferencia. El administrador registra el monto y la cantidad de clases adquiridas.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2971800" y="2075688"/>
            <a:ext cx="22860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3337560" y="1600200"/>
            <a:ext cx="475488" cy="475488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3337560" y="16002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291840" y="217627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Registro de clases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33756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El profesor anota manualmente cada 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dictada en el archivo Excel Online compartido por el equipo.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852160" y="2075688"/>
            <a:ext cx="22860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080760" y="1417320"/>
            <a:ext cx="265176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217920" y="1600200"/>
            <a:ext cx="475488" cy="475488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217920" y="160020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172200" y="217627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Control de asistencia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17920" y="2788920"/>
            <a:ext cx="2377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Tras cada clase, el profesor descuenta una 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sesión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del saldo del alumno correspondiente en la hoja de 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cálculo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F0D08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0" i="0" lang="en-US" sz="9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os tres procesos son secuenciales, manuales y sin </a:t>
            </a:r>
            <a:r>
              <a:rPr lang="en-US" sz="900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automatización</a:t>
            </a:r>
            <a:r>
              <a:rPr b="0" i="0" lang="en-US" sz="9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 ni </a:t>
            </a:r>
            <a:r>
              <a:rPr lang="en-US" sz="900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b="0" i="0" lang="en-US" sz="9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 digital.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1C1C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365760" y="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INFORMACI</a:t>
            </a: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Ó</a:t>
            </a: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0" y="-3527"/>
            <a:ext cx="886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04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365760" y="9144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Entidades de datos gestionadas por el gimnasio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20040" y="1371600"/>
            <a:ext cx="2651760" cy="320040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320040" y="1371600"/>
            <a:ext cx="2651760" cy="502920"/>
          </a:xfrm>
          <a:prstGeom prst="rect">
            <a:avLst/>
          </a:prstGeom>
          <a:solidFill>
            <a:srgbClr val="4A8C5C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2004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Estudiante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02920" y="201168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Nombre completo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02920" y="260604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40080" y="2606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Edad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02920" y="320040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40080" y="3200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Condicion medica / discapacidad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11480" y="4206240"/>
            <a:ext cx="2468880" cy="27432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11480" y="4206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Datos sensibles sin cifrado adicional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00400" y="1371600"/>
            <a:ext cx="2651760" cy="320040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200400" y="1371600"/>
            <a:ext cx="2651760" cy="502920"/>
          </a:xfrm>
          <a:prstGeom prst="rect">
            <a:avLst/>
          </a:prstGeom>
          <a:solidFill>
            <a:srgbClr val="4A8C5C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20040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Paquete de clases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383280" y="201168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3520440" y="2011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Cantidad de clases compradas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383280" y="260604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3520440" y="2606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Monto total pagado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291840" y="4206240"/>
            <a:ext cx="2468880" cy="27432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3291840" y="4206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Creado al momento del pago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080760" y="1371600"/>
            <a:ext cx="2651760" cy="320040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080760" y="1371600"/>
            <a:ext cx="2651760" cy="502920"/>
          </a:xfrm>
          <a:prstGeom prst="rect">
            <a:avLst/>
          </a:prstGeom>
          <a:solidFill>
            <a:srgbClr val="4A8C5C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6080760" y="137160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Asistencia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263640" y="201168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400800" y="201168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Clases restantes por alumno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263640" y="260604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400800" y="260604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Actualizado por el profesor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263640" y="3200400"/>
            <a:ext cx="54864" cy="274320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6400800" y="320040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Post-sesion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172200" y="4206240"/>
            <a:ext cx="2468880" cy="27432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172200" y="42062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i="1" lang="en-US" sz="800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odo m</a:t>
            </a:r>
            <a:r>
              <a:rPr i="1" lang="en-US" sz="800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anualmente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E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1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APLICACIONES E INFRAESTRUCTURA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05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914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Aplicaciones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5760" y="1325880"/>
            <a:ext cx="3931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65760" y="1325880"/>
            <a:ext cx="109728" cy="118872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2C5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566928" y="14173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Excel Online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566928" y="1828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Registro · Asistencia · Pagos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65760" y="2606040"/>
            <a:ext cx="3931920" cy="777240"/>
          </a:xfrm>
          <a:prstGeom prst="rect">
            <a:avLst/>
          </a:prstGeom>
          <a:solidFill>
            <a:srgbClr val="F0D08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502920" y="26517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Infraestructura: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1554480" y="26517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Google Drive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0292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Internet y empresa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754880" y="1325880"/>
            <a:ext cx="3931920" cy="1188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754880" y="1325880"/>
            <a:ext cx="109728" cy="118872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2C5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4956048" y="141732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WhatsApp Business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956048" y="1828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Comunicación</a:t>
            </a: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 con </a:t>
            </a:r>
            <a:r>
              <a:rPr lang="en-US" sz="1000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754880" y="2606040"/>
            <a:ext cx="3931920" cy="777240"/>
          </a:xfrm>
          <a:prstGeom prst="rect">
            <a:avLst/>
          </a:prstGeom>
          <a:solidFill>
            <a:srgbClr val="F0D08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4892040" y="265176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Infraestructura: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943600" y="265176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Meta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892040" y="2971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800"/>
              <a:buFont typeface="Calibri"/>
              <a:buNone/>
            </a:pPr>
            <a:r>
              <a:rPr i="1" lang="en-US" sz="800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Internet y empresa</a:t>
            </a:r>
            <a:endParaRPr i="1" sz="800">
              <a:solidFill>
                <a:srgbClr val="8B3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365760" y="3520440"/>
            <a:ext cx="8412480" cy="640080"/>
          </a:xfrm>
          <a:prstGeom prst="rect">
            <a:avLst/>
          </a:prstGeom>
          <a:solidFill>
            <a:srgbClr val="F5DAD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365760" y="3520440"/>
            <a:ext cx="109728" cy="640080"/>
          </a:xfrm>
          <a:prstGeom prst="rect">
            <a:avLst/>
          </a:prstGeom>
          <a:solidFill>
            <a:srgbClr val="8B3A3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566928" y="3566160"/>
            <a:ext cx="1280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A3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8B3A3A"/>
                </a:solidFill>
                <a:latin typeface="Calibri"/>
                <a:ea typeface="Calibri"/>
                <a:cs typeface="Calibri"/>
                <a:sym typeface="Calibri"/>
              </a:rPr>
              <a:t>Problema: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1783080" y="356616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C1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Sin 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integración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 entre herramientas. El flujo de datos entre Excel y WhatsApp es manual, generando riesgo de errores y p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rdida de </a:t>
            </a:r>
            <a:r>
              <a:rPr lang="en-US" sz="1000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información</a:t>
            </a:r>
            <a:r>
              <a:rPr b="0" i="0" lang="en-US" sz="1000" u="none" cap="none" strike="noStrike">
                <a:solidFill>
                  <a:srgbClr val="1C1C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1C1C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VISTA DE SEGURIDAD Y BRECHAS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0" y="0"/>
            <a:ext cx="8869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06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5760" y="9144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Controles existentes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65760" y="1371600"/>
            <a:ext cx="3657600" cy="54864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65760" y="1371600"/>
            <a:ext cx="91440" cy="548640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548640" y="13716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Acceso al Excel por </a:t>
            </a: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invitación:</a:t>
            </a: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 solo usuarios añadidos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2057400"/>
            <a:ext cx="3657600" cy="54864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65760" y="2057400"/>
            <a:ext cx="91440" cy="548640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548640" y="205740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Google requerida </a:t>
            </a:r>
            <a:r>
              <a:rPr b="0" i="0" lang="en-US" sz="100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para editar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Brechas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663440" y="1371600"/>
            <a:ext cx="4114800" cy="640080"/>
          </a:xfrm>
          <a:prstGeom prst="rect">
            <a:avLst/>
          </a:prstGeom>
          <a:solidFill>
            <a:srgbClr val="3A1A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800600" y="1417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Mismos permisos para todos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800600" y="169164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Profesores y </a:t>
            </a:r>
            <a:r>
              <a:rPr lang="en-US" sz="9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owner </a:t>
            </a: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comparten permisos totales.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663440" y="2148840"/>
            <a:ext cx="4114800" cy="640080"/>
          </a:xfrm>
          <a:prstGeom prst="rect">
            <a:avLst/>
          </a:prstGeom>
          <a:solidFill>
            <a:srgbClr val="3A1A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800600" y="219456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Sin auditoria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800600" y="246888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No hay registro de quien edito que y cuando.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663440" y="2926080"/>
            <a:ext cx="4114800" cy="640080"/>
          </a:xfrm>
          <a:prstGeom prst="rect">
            <a:avLst/>
          </a:prstGeom>
          <a:solidFill>
            <a:srgbClr val="3A1A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800600" y="2971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Sin backup formal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800600" y="324612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Sin </a:t>
            </a:r>
            <a:r>
              <a:rPr lang="en-US" sz="9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política</a:t>
            </a: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 de copias propias del gimnasio.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63440" y="3703320"/>
            <a:ext cx="4114800" cy="640080"/>
          </a:xfrm>
          <a:prstGeom prst="rect">
            <a:avLst/>
          </a:prstGeom>
          <a:solidFill>
            <a:srgbClr val="3A1A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800600" y="374904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DAD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Datos m</a:t>
            </a:r>
            <a:r>
              <a:rPr b="1" lang="en-US" sz="1000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1" i="0" lang="en-US" sz="1000" u="none" cap="none" strike="noStrike">
                <a:solidFill>
                  <a:srgbClr val="F5DADA"/>
                </a:solidFill>
                <a:latin typeface="Calibri"/>
                <a:ea typeface="Calibri"/>
                <a:cs typeface="Calibri"/>
                <a:sym typeface="Calibri"/>
              </a:rPr>
              <a:t>dicos sin cifrado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800600" y="402336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Condiciones de salud sin </a:t>
            </a:r>
            <a:r>
              <a:rPr lang="en-US" sz="9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protección</a:t>
            </a:r>
            <a:r>
              <a:rPr b="0" i="0" lang="en-US" sz="90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 adicional.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E6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1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SOLUCIÓN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0" y="-25"/>
            <a:ext cx="886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07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65760" y="960120"/>
            <a:ext cx="8412480" cy="621792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365760" y="960120"/>
            <a:ext cx="1737360" cy="621792"/>
          </a:xfrm>
          <a:prstGeom prst="rect">
            <a:avLst/>
          </a:prstGeom>
          <a:solidFill>
            <a:srgbClr val="4A8C5C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365760" y="960120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BOT EN WHATSAPP BUSINESS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194560" y="960120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Canal de comunicación</a:t>
            </a:r>
            <a:r>
              <a:rPr b="0" i="0" lang="en-US" sz="1050" u="none" cap="none" strike="noStrike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Validación de pagos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480560" y="1581912"/>
            <a:ext cx="18288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365760" y="1636776"/>
            <a:ext cx="8412480" cy="621792"/>
          </a:xfrm>
          <a:prstGeom prst="rect">
            <a:avLst/>
          </a:prstGeom>
          <a:solidFill>
            <a:srgbClr val="1E4A6E"/>
          </a:solidFill>
          <a:ln cap="flat" cmpd="sng" w="12700">
            <a:solidFill>
              <a:srgbClr val="3A8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65760" y="1636776"/>
            <a:ext cx="1737360" cy="621792"/>
          </a:xfrm>
          <a:prstGeom prst="rect">
            <a:avLst/>
          </a:prstGeom>
          <a:solidFill>
            <a:srgbClr val="3A82B0"/>
          </a:solidFill>
          <a:ln cap="flat" cmpd="sng" w="12700">
            <a:solidFill>
              <a:srgbClr val="3A82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365760" y="1636776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HERRAMIENTA DE AUTOMATIZACIÓN </a:t>
            </a:r>
            <a:endParaRPr b="1" sz="950">
              <a:solidFill>
                <a:srgbClr val="F4F0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(n8n)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2194560" y="1636776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Automatización del flujo de datos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480560" y="2258568"/>
            <a:ext cx="18288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65760" y="2313432"/>
            <a:ext cx="8412480" cy="621792"/>
          </a:xfrm>
          <a:prstGeom prst="rect">
            <a:avLst/>
          </a:prstGeom>
          <a:solidFill>
            <a:srgbClr val="5A3E1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365760" y="2313432"/>
            <a:ext cx="1737360" cy="62179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65760" y="2313432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VPS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2194560" y="2313432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Mantener la automatización activa todo el tiempo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480560" y="2935224"/>
            <a:ext cx="18288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365760" y="2990088"/>
            <a:ext cx="8412480" cy="621792"/>
          </a:xfrm>
          <a:prstGeom prst="rect">
            <a:avLst/>
          </a:prstGeom>
          <a:solidFill>
            <a:srgbClr val="3A2A4A"/>
          </a:solidFill>
          <a:ln cap="flat" cmpd="sng" w="12700">
            <a:solidFill>
              <a:srgbClr val="7A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365760" y="2990088"/>
            <a:ext cx="1737360" cy="621792"/>
          </a:xfrm>
          <a:prstGeom prst="rect">
            <a:avLst/>
          </a:prstGeom>
          <a:solidFill>
            <a:srgbClr val="7A5EA0"/>
          </a:solidFill>
          <a:ln cap="flat" cmpd="sng" w="12700">
            <a:solidFill>
              <a:srgbClr val="7A5E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65760" y="2990088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APLICACIÓN INTERNA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2194560" y="2990088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Llevar registro </a:t>
            </a: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· Registrar clases · DB en Firebase por el momento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480560" y="3611880"/>
            <a:ext cx="182880" cy="54864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65760" y="3666744"/>
            <a:ext cx="8412480" cy="621792"/>
          </a:xfrm>
          <a:prstGeom prst="rect">
            <a:avLst/>
          </a:prstGeom>
          <a:solidFill>
            <a:srgbClr val="5A1A1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65760" y="3666744"/>
            <a:ext cx="1737360" cy="621792"/>
          </a:xfrm>
          <a:prstGeom prst="rect">
            <a:avLst/>
          </a:prstGeom>
          <a:solidFill>
            <a:srgbClr val="8B3A3A"/>
          </a:solidFill>
          <a:ln cap="flat" cmpd="sng" w="12700">
            <a:solidFill>
              <a:srgbClr val="8B3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365760" y="3666744"/>
            <a:ext cx="1737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SEGURIDAD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2194560" y="3666744"/>
            <a:ext cx="64922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Ya no existiría un archivo de excel vulnerable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2A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1C1A"/>
          </a:solidFill>
          <a:ln cap="flat" cmpd="sng" w="12700">
            <a:solidFill>
              <a:srgbClr val="1C1C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973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9973A"/>
                </a:solidFill>
                <a:latin typeface="Calibri"/>
                <a:ea typeface="Calibri"/>
                <a:cs typeface="Calibri"/>
                <a:sym typeface="Calibri"/>
              </a:rPr>
              <a:t>COSTOS Y PLANES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0" y="-25"/>
            <a:ext cx="8869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6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6E"/>
                </a:solidFill>
                <a:latin typeface="Calibri"/>
                <a:ea typeface="Calibri"/>
                <a:cs typeface="Calibri"/>
                <a:sym typeface="Calibri"/>
              </a:rPr>
              <a:t>08 / 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914400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5B5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A8D5B5"/>
                </a:solidFill>
                <a:latin typeface="Calibri"/>
                <a:ea typeface="Calibri"/>
                <a:cs typeface="Calibri"/>
                <a:sym typeface="Calibri"/>
              </a:rPr>
              <a:t>Costos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65760" y="1371600"/>
            <a:ext cx="3840480" cy="621792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65760" y="1371600"/>
            <a:ext cx="91440" cy="621792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548640" y="1371600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Bot de WhatsApp -&gt; COP ~$10k/m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365760" y="2121408"/>
            <a:ext cx="3840480" cy="621792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365760" y="2121408"/>
            <a:ext cx="91440" cy="621792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548640" y="2121408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VPS -&gt; COP $25k/m - $80k/m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365760" y="2871216"/>
            <a:ext cx="3840480" cy="621792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365760" y="2871216"/>
            <a:ext cx="91440" cy="621792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548640" y="2871216"/>
            <a:ext cx="35661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Automatización e implementación -&gt; COP 1.7M pago único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3621024"/>
            <a:ext cx="3840480" cy="621792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365760" y="3621024"/>
            <a:ext cx="91440" cy="621792"/>
          </a:xfrm>
          <a:prstGeom prst="rect">
            <a:avLst/>
          </a:prstGeom>
          <a:solidFill>
            <a:srgbClr val="A8D5B5"/>
          </a:solidFill>
          <a:ln cap="flat" cmpd="sng" w="1270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48650" y="3621025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Creación de aplicación móvil privada y sencilla -&gt; 2.1M pago único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4663440" y="914400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D080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0D080"/>
                </a:solidFill>
                <a:latin typeface="Calibri"/>
                <a:ea typeface="Calibri"/>
                <a:cs typeface="Calibri"/>
                <a:sym typeface="Calibri"/>
              </a:rPr>
              <a:t>Planes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4663440" y="1371600"/>
            <a:ext cx="4114800" cy="621792"/>
          </a:xfrm>
          <a:prstGeom prst="rect">
            <a:avLst/>
          </a:prstGeom>
          <a:solidFill>
            <a:srgbClr val="3A2E1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4663440" y="1371600"/>
            <a:ext cx="91440" cy="62179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846320" y="1371600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Plan único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663440" y="2121408"/>
            <a:ext cx="4114800" cy="621792"/>
          </a:xfrm>
          <a:prstGeom prst="rect">
            <a:avLst/>
          </a:prstGeom>
          <a:solidFill>
            <a:srgbClr val="3A2E1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4663440" y="2121408"/>
            <a:ext cx="91440" cy="62179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4846320" y="2121408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Se recomienda pagar una VPS sencilla e ir mejorando con base en la demanda. Además se recomienda pagar una plataforma con descuentos a largo.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4663440" y="2871216"/>
            <a:ext cx="4114800" cy="621792"/>
          </a:xfrm>
          <a:prstGeom prst="rect">
            <a:avLst/>
          </a:prstGeom>
          <a:solidFill>
            <a:srgbClr val="3A2E1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"/>
          <p:cNvSpPr/>
          <p:nvPr/>
        </p:nvSpPr>
        <p:spPr>
          <a:xfrm>
            <a:off x="4846320" y="2871216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Mitad antes y mitad después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663440" y="2871216"/>
            <a:ext cx="91440" cy="62179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663440" y="3621024"/>
            <a:ext cx="4114800" cy="621792"/>
          </a:xfrm>
          <a:prstGeom prst="rect">
            <a:avLst/>
          </a:prstGeom>
          <a:solidFill>
            <a:srgbClr val="3A2E10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663440" y="3621024"/>
            <a:ext cx="91440" cy="621792"/>
          </a:xfrm>
          <a:prstGeom prst="rect">
            <a:avLst/>
          </a:prstGeom>
          <a:solidFill>
            <a:srgbClr val="C9973A"/>
          </a:solidFill>
          <a:ln cap="flat" cmpd="sng" w="12700">
            <a:solidFill>
              <a:srgbClr val="C997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4846320" y="3621024"/>
            <a:ext cx="38404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0CC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E8E0CC"/>
                </a:solidFill>
                <a:latin typeface="Calibri"/>
                <a:ea typeface="Calibri"/>
                <a:cs typeface="Calibri"/>
                <a:sym typeface="Calibri"/>
              </a:rPr>
              <a:t>Pago porcentual conforme se vean avances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3700250" y="4370950"/>
            <a:ext cx="1560600" cy="691500"/>
          </a:xfrm>
          <a:prstGeom prst="rect">
            <a:avLst/>
          </a:prstGeom>
          <a:solidFill>
            <a:srgbClr val="2C5F3D"/>
          </a:solidFill>
          <a:ln cap="flat" cmpd="sng" w="12700">
            <a:solidFill>
              <a:srgbClr val="4A8C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3708600" y="4370950"/>
            <a:ext cx="1560600" cy="6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TOTAL ESTIMADO</a:t>
            </a:r>
            <a:endParaRPr sz="1000">
              <a:solidFill>
                <a:srgbClr val="F4F0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Primer pago: ~4M</a:t>
            </a:r>
            <a:endParaRPr sz="1000">
              <a:solidFill>
                <a:srgbClr val="F4F0E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0E6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4F0E6"/>
                </a:solidFill>
                <a:latin typeface="Calibri"/>
                <a:ea typeface="Calibri"/>
                <a:cs typeface="Calibri"/>
                <a:sym typeface="Calibri"/>
              </a:rPr>
              <a:t>Pago mensual: ~60k</a:t>
            </a:r>
            <a:endParaRPr sz="1000">
              <a:solidFill>
                <a:srgbClr val="F4F0E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0E6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8a69ecb63_0_2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1A3A2A"/>
          </a:solidFill>
          <a:ln cap="flat" cmpd="sng" w="12700">
            <a:solidFill>
              <a:srgbClr val="1A3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8a69ecb63_0_2"/>
          <p:cNvSpPr/>
          <p:nvPr/>
        </p:nvSpPr>
        <p:spPr>
          <a:xfrm>
            <a:off x="1451097" y="1628247"/>
            <a:ext cx="6241800" cy="1887000"/>
          </a:xfrm>
          <a:prstGeom prst="rect">
            <a:avLst/>
          </a:prstGeom>
          <a:solidFill>
            <a:srgbClr val="FFFFFF"/>
          </a:solidFill>
          <a:ln cap="flat" cmpd="sng" w="20150">
            <a:solidFill>
              <a:srgbClr val="A8D5B5"/>
            </a:solidFill>
            <a:prstDash val="solid"/>
            <a:round/>
            <a:headEnd len="sm" w="sm" type="none"/>
            <a:tailEnd len="sm" w="sm" type="none"/>
          </a:ln>
          <a:effectLst>
            <a:outerShdw blurRad="161289" rotWithShape="0" algn="bl" dir="8100000" dist="60484">
              <a:srgbClr val="000000">
                <a:alpha val="18040"/>
              </a:srgbClr>
            </a:outerShdw>
          </a:effectLst>
        </p:spPr>
        <p:txBody>
          <a:bodyPr anchorCtr="0" anchor="ctr" bIns="145125" lIns="145125" spcFirstLastPara="1" rIns="145125" wrap="square" tIns="14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a8a69ecb63_0_2"/>
          <p:cNvSpPr/>
          <p:nvPr/>
        </p:nvSpPr>
        <p:spPr>
          <a:xfrm>
            <a:off x="1451097" y="1628247"/>
            <a:ext cx="174300" cy="1887000"/>
          </a:xfrm>
          <a:prstGeom prst="rect">
            <a:avLst/>
          </a:prstGeom>
          <a:solidFill>
            <a:srgbClr val="2C5F3D"/>
          </a:solidFill>
          <a:ln cap="flat" cmpd="sng" w="20150">
            <a:solidFill>
              <a:srgbClr val="2C5F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5125" lIns="145125" spcFirstLastPara="1" rIns="145125" wrap="square" tIns="14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a8a69ecb63_0_2"/>
          <p:cNvSpPr/>
          <p:nvPr/>
        </p:nvSpPr>
        <p:spPr>
          <a:xfrm>
            <a:off x="3366900" y="2169000"/>
            <a:ext cx="24102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2550" lIns="145125" spcFirstLastPara="1" rIns="145125" wrap="square" tIns="72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3A2A"/>
              </a:buClr>
              <a:buSzPts val="2064"/>
              <a:buFont typeface="Calibri"/>
              <a:buNone/>
            </a:pPr>
            <a:r>
              <a:rPr b="1" lang="en-US" sz="4500">
                <a:solidFill>
                  <a:srgbClr val="1A3A2A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2026-05-23T00:31:12Z</dcterms:created>
  <dc:creator>PptxGenJS</dc:creator>
</cp:coreProperties>
</file>